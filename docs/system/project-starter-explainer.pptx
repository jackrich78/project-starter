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120" y="253901"/>
            <a:ext cx="48006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94370" y="380851"/>
            <a:ext cx="48006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1960" y="1820912"/>
            <a:ext cx="640080" cy="5075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84885" y="2125563"/>
            <a:ext cx="5774081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44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PROJECT STARTER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245747" y="2941439"/>
            <a:ext cx="6652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600"/>
              </a:spcAft>
              <a:buNone/>
            </a:pPr>
            <a:r>
              <a:rPr lang="en-US" sz="16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 structured harness for AI-assisted development using Claude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199" y="3636764"/>
            <a:ext cx="40634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Stack-agnostic · MIT License · github.com/jackrich78/project-starter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Every session starts from zero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1450" y="949226"/>
            <a:ext cx="8801100" cy="35540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49226"/>
            <a:ext cx="0" cy="355402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02863" y="1050727"/>
            <a:ext cx="8545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"You spend an hour getting Claude to understand your project. Tomorrow, it's forgotten everything."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1450" y="1380827"/>
            <a:ext cx="8801100" cy="35540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380827"/>
            <a:ext cx="0" cy="355402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2863" y="1482328"/>
            <a:ext cx="8545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"You ask it to add a feature and it breaks three things — it lost track of what it already built."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450" y="1812429"/>
            <a:ext cx="8801100" cy="35540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1812429"/>
            <a:ext cx="0" cy="355402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2863" y="1913930"/>
            <a:ext cx="8545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"Every session feels like day one. Nothing compounds."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7259" y="2294781"/>
            <a:ext cx="897712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Claude Code can do </a:t>
            </a:r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anything</a:t>
            </a:r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— but without structure, every session is improvised. Even with 1M tokens, agent performance degrades over long sessions. The real question: how do you build something </a:t>
            </a:r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reusable and reliable</a:t>
            </a:r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that ships quality without starting over?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450" y="2802434"/>
            <a:ext cx="8801100" cy="406301"/>
          </a:xfrm>
          <a:prstGeom prst="roundRect">
            <a:avLst>
              <a:gd name="adj" fmla="val 1250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3757" y="2929384"/>
            <a:ext cx="8596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You get fast prototypes but fragile systems. Speed without compounding.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WHAT IS CLAUDE CODE?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An AI coding agent you can structure</a:t>
            </a:r>
            <a:endParaRPr lang="en-US" sz="2800" dirty="0"/>
          </a:p>
        </p:txBody>
      </p:sp>
      <p:pic>
        <p:nvPicPr>
          <p:cNvPr id="4" name="Image 0" descr="/Users/builder/dev/project-starter/docs/system/diagrams/claude-code-ve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01" y="1192113"/>
            <a:ext cx="3429000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74262" y="923776"/>
            <a:ext cx="489677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An AI agent that reads, writes, and runs code in your terminal. Four things determine how well it works: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209901" y="1405979"/>
            <a:ext cx="0" cy="21907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246759" y="1444079"/>
            <a:ext cx="4584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— what it knows about your project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9901" y="1675805"/>
            <a:ext cx="0" cy="2190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246759" y="1713905"/>
            <a:ext cx="4584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Tools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— what it can do (read, write, search, run)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09901" y="1945630"/>
            <a:ext cx="0" cy="219075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46759" y="1983730"/>
            <a:ext cx="4584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Model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— how it thinks and reasons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09901" y="2215455"/>
            <a:ext cx="0" cy="21907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246759" y="2253555"/>
            <a:ext cx="4584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Prompt</a:t>
            </a:r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— how you direct it (CLAUDE.md, commands)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74262" y="2536031"/>
            <a:ext cx="48967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Built-in: /help, /clear, /compact, /model, /config, /permissions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076548" y="2745581"/>
            <a:ext cx="4800756" cy="28575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07687" y="2821781"/>
            <a:ext cx="4624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This template structures all four pillars. The intersection is where quality happens.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A workflow template, not a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96896" y="898475"/>
            <a:ext cx="1688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WHAT YOU CAN INFLUENCE</a:t>
            </a:r>
            <a:endParaRPr lang="en-US" sz="900" dirty="0"/>
          </a:p>
        </p:txBody>
      </p:sp>
      <p:pic>
        <p:nvPicPr>
          <p:cNvPr id="5" name="Image 0" descr="/Users/builder/dev/project-starter/docs/system/diagrams/claude-code-ve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82576"/>
            <a:ext cx="2793950" cy="2489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50230" y="898475"/>
            <a:ext cx="21765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HOW PROJECT STARTER LAYERS IT</a:t>
            </a:r>
            <a:endParaRPr lang="en-US" sz="900" dirty="0"/>
          </a:p>
        </p:txBody>
      </p:sp>
      <p:pic>
        <p:nvPicPr>
          <p:cNvPr id="7" name="Image 1" descr="/Users/builder/dev/project-starter/docs/system/diagrams/harness-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1082576"/>
            <a:ext cx="3301901" cy="2489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0455" y="3946624"/>
            <a:ext cx="5902925" cy="561975"/>
          </a:xfrm>
          <a:prstGeom prst="roundRect">
            <a:avLst>
              <a:gd name="adj" fmla="val 9040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24407" y="4048125"/>
            <a:ext cx="5640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Fork it, customize it, start building. Knowledge compounds with every feature you ship.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09112" y="3946624"/>
            <a:ext cx="868233" cy="561975"/>
          </a:xfrm>
          <a:prstGeom prst="roundRect">
            <a:avLst>
              <a:gd name="adj" fmla="val 904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182040" y="4022824"/>
            <a:ext cx="72237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182040" y="4318099"/>
            <a:ext cx="722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012198" y="3946624"/>
            <a:ext cx="868389" cy="561975"/>
          </a:xfrm>
          <a:prstGeom prst="roundRect">
            <a:avLst>
              <a:gd name="adj" fmla="val 904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085124" y="4022824"/>
            <a:ext cx="7225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085124" y="4318099"/>
            <a:ext cx="7225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915439" y="3946624"/>
            <a:ext cx="868233" cy="561975"/>
          </a:xfrm>
          <a:prstGeom prst="roundRect">
            <a:avLst>
              <a:gd name="adj" fmla="val 904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988367" y="4022824"/>
            <a:ext cx="72237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988367" y="4318099"/>
            <a:ext cx="722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THE WORKFLOW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Five commands form a repeatable loop</a:t>
            </a:r>
            <a:endParaRPr lang="en-US" sz="2800" dirty="0"/>
          </a:p>
        </p:txBody>
      </p:sp>
      <p:pic>
        <p:nvPicPr>
          <p:cNvPr id="4" name="Image 0" descr="/Users/builder/dev/project-starter/docs/system/diagrams/feature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49226"/>
            <a:ext cx="7239000" cy="3086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1490" y="4136827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/explore → /blueprint → /build → /qa → /commit. Each command produces an artifact the next one reads. The loop writes to your knowledge base — it's not fire-and-forget.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DURABLE ARTIFACTS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Each command writes durable artifacts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98453" y="949226"/>
            <a:ext cx="3466996" cy="1898749"/>
          </a:xfrm>
          <a:prstGeom prst="roundRect">
            <a:avLst>
              <a:gd name="adj" fmla="val 2675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49226"/>
            <a:ext cx="0" cy="1898749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2405" y="1076176"/>
            <a:ext cx="3104694" cy="164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docs/features/FEAT-001_health-check/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prd.md ← /explore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plan.md ← /blueprint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handover.md ← /handover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qa-report.md ← /qa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test/ ← /build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src/ ← /build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git commit ← /commit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6148" y="949226"/>
            <a:ext cx="5067507" cy="62865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60614" y="949226"/>
            <a:ext cx="0" cy="6286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22746" y="1025426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prd.md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2746" y="1215926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Problem statement, success criteria, scope. Claude reads this to start every subsequent command.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6148" y="1666726"/>
            <a:ext cx="5067507" cy="62865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60614" y="1666726"/>
            <a:ext cx="0" cy="6286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2746" y="1742926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2746" y="1933426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Implementation steps, architecture decisions, test stubs. The implementation contract.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6148" y="2384227"/>
            <a:ext cx="5067507" cy="62865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60614" y="2384227"/>
            <a:ext cx="0" cy="6286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22746" y="2460427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handover.md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2746" y="2650927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What was done, decisions made, what's next. Token-budgeted under 1,500 tokens.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6148" y="3101727"/>
            <a:ext cx="5067507" cy="62865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960614" y="3101727"/>
            <a:ext cx="0" cy="62865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022746" y="3177927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qa-report.md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2746" y="3368427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SAST results plus OWASP checklist. APPROVED / NEEDS_FIXES / BLOCKED verdict gates the commit.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CONTEXT ISOLATION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8191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Isolation prevents agents from biasing each other</a:t>
            </a:r>
            <a:endParaRPr lang="en-US" sz="2800" dirty="0"/>
          </a:p>
        </p:txBody>
      </p:sp>
      <p:pic>
        <p:nvPicPr>
          <p:cNvPr id="4" name="Image 0" descr="/Users/builder/dev/project-starter/docs/system/diagrams/context-iso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58801"/>
            <a:ext cx="3301901" cy="29971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36949" y="1358801"/>
            <a:ext cx="4534003" cy="65395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68713" y="1358801"/>
            <a:ext cx="0" cy="65395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43802" y="1447651"/>
            <a:ext cx="4247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Test writer sees: PRD only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43802" y="1638151"/>
            <a:ext cx="42472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Writes tests against stated behavior. If the plan is wrong, the tests still test the right thing.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36949" y="2088952"/>
            <a:ext cx="4534003" cy="65395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68713" y="2088952"/>
            <a:ext cx="0" cy="65395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43802" y="2177802"/>
            <a:ext cx="4247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Implementer sees: Failing tests only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43802" y="2368302"/>
            <a:ext cx="42472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Writes the minimum code to make tests pass. Can't over-engineer what it can't see.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36949" y="2819102"/>
            <a:ext cx="4534003" cy="65395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468713" y="2819102"/>
            <a:ext cx="0" cy="65395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43802" y="2907953"/>
            <a:ext cx="4247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Refactorer sees: Tests + code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43802" y="3098453"/>
            <a:ext cx="42472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Improves structure without changing behavior. Green tests are the constraint.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36949" y="3549253"/>
            <a:ext cx="4534003" cy="539651"/>
          </a:xfrm>
          <a:prstGeom prst="roundRect">
            <a:avLst>
              <a:gd name="adj" fmla="val 941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21554" y="3676204"/>
            <a:ext cx="42440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Artifacts flow between phases — but context doesn't. The absence of connections IS the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THE KNOWLEDGE 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Every session builds on the last</a:t>
            </a:r>
            <a:endParaRPr lang="en-US" sz="2800" dirty="0"/>
          </a:p>
        </p:txBody>
      </p:sp>
      <p:pic>
        <p:nvPicPr>
          <p:cNvPr id="4" name="Image 0" descr="/Users/builder/dev/project-starter/docs/system/diagrams/project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49226"/>
            <a:ext cx="304800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6148" y="949226"/>
            <a:ext cx="5067507" cy="6792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960614" y="949226"/>
            <a:ext cx="0" cy="6792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022746" y="1050727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Feature docs (docs/features/)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22746" y="1241227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PRD, plan, handover, and QA report per feature. Nothing is thrown away. Feature 12 benefits from everything written in features 1–11.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16148" y="1729978"/>
            <a:ext cx="5067507" cy="6792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960614" y="1729978"/>
            <a:ext cx="0" cy="6792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022746" y="1831479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Skills (.claude/skills/)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2746" y="2021979"/>
            <a:ext cx="47914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Cross-cutting patterns extracted by /retro after each feature. A debugging approach from FEAT-003 is available in FEAT-012.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16148" y="2510730"/>
            <a:ext cx="5067507" cy="822127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960614" y="2510730"/>
            <a:ext cx="0" cy="82212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022746" y="2612231"/>
            <a:ext cx="4791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Session continuity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22746" y="2802731"/>
            <a:ext cx="479141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/handover writes a token-budgeted summary before you stop. /prime loads it at session start. Each merge prunes stale context — handovers get sharper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WHAT IT LOOKS LIKE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A typical session, from setup to commit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7259" y="923776"/>
            <a:ext cx="8977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Four commands, four artifacts, one green CI run: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1450" y="1142851"/>
            <a:ext cx="8801100" cy="734318"/>
          </a:xfrm>
          <a:prstGeom prst="roundRect">
            <a:avLst>
              <a:gd name="adj" fmla="val 69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4023" y="1244352"/>
            <a:ext cx="859648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$ /setup docs/research/my-project-notes.md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configures PROJECT.md, CLAUDE.md, and initial docs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installs stack scaffolding if specified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1450" y="1940570"/>
            <a:ext cx="8801100" cy="734318"/>
          </a:xfrm>
          <a:prstGeom prst="roundRect">
            <a:avLst>
              <a:gd name="adj" fmla="val 69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023" y="2042071"/>
            <a:ext cx="8596486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$ /explore add a health check endpoint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asks 3 clarifying questions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creates docs/features/FEAT-001_health-check/prd.md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1450" y="2738289"/>
            <a:ext cx="8801100" cy="911423"/>
          </a:xfrm>
          <a:prstGeom prst="roundRect">
            <a:avLst>
              <a:gd name="adj" fmla="val 557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023" y="2839789"/>
            <a:ext cx="8596486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$ /build FEAT-001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RED: tdd-test-writer writes failing tests (sees PRD only)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GREEN: tdd-implementer writes minimal code (sees tests only)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REFACTOR + QA: clean up → 15 SAST rules + OWASP → APPROVED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1450" y="3713113"/>
            <a:ext cx="8801100" cy="557213"/>
          </a:xfrm>
          <a:prstGeom prst="roundRect">
            <a:avLst>
              <a:gd name="adj" fmla="val 911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023" y="3814614"/>
            <a:ext cx="859648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$ /commit</a:t>
            </a:r>
            <a:endParaRPr lang="en-US" sz="900" dirty="0"/>
          </a:p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 → QA gate passes → conventional commit → CI passes in 12s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AGENTS AS SPECIALISTS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12 specialists — each with one job</a:t>
            </a:r>
            <a:endParaRPr lang="en-US" sz="2800" dirty="0"/>
          </a:p>
        </p:txBody>
      </p:sp>
      <p:pic>
        <p:nvPicPr>
          <p:cNvPr id="4" name="Image 0" descr="/Users/builder/dev/project-starter/docs/system/diagrams/agents-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49226"/>
            <a:ext cx="373380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19093" y="949226"/>
            <a:ext cx="4347417" cy="58727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646414" y="949226"/>
            <a:ext cx="0" cy="58727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726034" y="1025426"/>
            <a:ext cx="40569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TDD Build (3 agents)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6034" y="1193602"/>
            <a:ext cx="4056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Run the RED-GREEN-REFACTOR cycle. Each in an isolated 200k-token context.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19093" y="1612702"/>
            <a:ext cx="4347417" cy="58727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46414" y="1612702"/>
            <a:ext cx="0" cy="58727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26034" y="1688902"/>
            <a:ext cx="40569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Quality Gate (1 agent)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26034" y="1857077"/>
            <a:ext cx="4056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qa-reviewer: SAST plus OWASP review with fresh context every time. No bias from the build session.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19093" y="2276177"/>
            <a:ext cx="4347417" cy="58727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46414" y="2276177"/>
            <a:ext cx="0" cy="587276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26034" y="2352377"/>
            <a:ext cx="40569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Thinking (4 agents)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26034" y="2520553"/>
            <a:ext cx="4056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researcher, challenger, first-principles-thinker, product-engineering-lead. Research and critique before code is written.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19093" y="2939653"/>
            <a:ext cx="4347417" cy="58727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46414" y="2939653"/>
            <a:ext cx="0" cy="587276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726034" y="3015853"/>
            <a:ext cx="40569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Utility (4 agents)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26034" y="3184029"/>
            <a:ext cx="4056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specialist-creator, prompt-specialist, librarian, n8n-specialist. Extend the harness, maintain docs, build integrations.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COMMANDS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14 commands — start with the six in bold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7367" y="923776"/>
            <a:ext cx="4352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9399" y="1120527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1120527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9631" y="1171277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/setup [docs]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9631" y="1326803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Configure project, generate initial docs from source material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9399" y="1542604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542604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631" y="1593354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/explore [topic]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631" y="1748879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Interview-driven feature spec → structured PRD with success criteria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9399" y="1964680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4813" y="1964680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9631" y="2015430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/blueprint FEAT-XXX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631" y="2170956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Reads codebase, validates assumptions, drafts implementation steps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9399" y="2386757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4813" y="2386757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9631" y="2437507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/build FEAT-XXX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631" y="2593032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TDD with 3 isolated agents + QA reviewer → tested, reviewed code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9399" y="2808833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4813" y="2808833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9631" y="2859584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/qa [target]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631" y="3015109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Semgrep SAST + OWASP review → APPROVED / NEEDS_FIXES / BLOCKED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9399" y="3230910"/>
            <a:ext cx="4267252" cy="37132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4813" y="3230910"/>
            <a:ext cx="0" cy="371326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9631" y="3281660"/>
            <a:ext cx="40296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/commit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631" y="3437186"/>
            <a:ext cx="40296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QA gate → conventional commit → push → verify CI passes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95317" y="923776"/>
            <a:ext cx="4352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000" y="1120527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67814" y="1158627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/debug [issue]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7814" y="1304627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6-phase systematic bug investigation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18000" y="1495127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67814" y="1533227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/handover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67814" y="1679228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Token-budgeted session summary (under 1,500 tokens)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18000" y="1869728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67814" y="1907828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/prime [mode]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67814" y="2053828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Load context at session start (think, build, review)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18000" y="2244328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67814" y="2282428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/retro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67814" y="2428429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Extract patterns → reusable skills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18000" y="2618929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767814" y="2657029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/logs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67814" y="2803029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Query SQLite audit trail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18000" y="2993529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767814" y="3031629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/create-specialist [lib]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67814" y="3177629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Generate domain-expert agent for any library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18000" y="3368129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767814" y="3406229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67814" y="3552230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Validate cross-references across docs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18000" y="3742730"/>
            <a:ext cx="0" cy="33650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767814" y="3780830"/>
            <a:ext cx="40398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/demo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67814" y="3926830"/>
            <a:ext cx="4039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Guided walkthrough of the full workflow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SKILLS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17 skills — reusable decision guides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7259" y="923776"/>
            <a:ext cx="89771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Modular guides bundled with context, templates, and references. Commands import them automatically. </a:t>
            </a:r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/retro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crystallizes new ones after each feature.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08" y="1285726"/>
            <a:ext cx="2847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DEVELOPMENT (5)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0050" y="1469827"/>
            <a:ext cx="0" cy="2857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8957" y="150792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debug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8957" y="162222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6-phase bug investigation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00050" y="1793677"/>
            <a:ext cx="0" cy="2857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8957" y="183177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spike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8957" y="194607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Time-boxed validation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00050" y="2117527"/>
            <a:ext cx="0" cy="2857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8957" y="215562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tdd-red-green-refactor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8957" y="226992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TDD orchestration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00050" y="2441377"/>
            <a:ext cx="0" cy="2857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8957" y="247947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test-strategy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8957" y="259377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Test type decision guide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00050" y="2765227"/>
            <a:ext cx="0" cy="28575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8957" y="280332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ci-validation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8957" y="291762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CI pipeline checks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74872" y="1285726"/>
            <a:ext cx="2847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CONTENT &amp; VISUAL (8)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1717" y="1469827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20621" y="1507927"/>
            <a:ext cx="258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brand-guidelines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20621" y="1622227"/>
            <a:ext cx="2589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Colors, typography, visual style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61717" y="1793677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320621" y="1831777"/>
            <a:ext cx="258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diagram / excalidraw-diagram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20621" y="1946077"/>
            <a:ext cx="2589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Mermaid + Excalidraw visuals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61717" y="2117527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320621" y="2155627"/>
            <a:ext cx="258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icon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20621" y="2269927"/>
            <a:ext cx="2589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Lucide icons to branded PNGs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61717" y="2441377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20621" y="2479477"/>
            <a:ext cx="258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docx / md-to-doc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0621" y="2593777"/>
            <a:ext cx="2589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Document creation + MD conversion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61717" y="2765227"/>
            <a:ext cx="0" cy="2857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320621" y="2803327"/>
            <a:ext cx="258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pptx / pdf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20621" y="2917627"/>
            <a:ext cx="2589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Presentations + PDF manipulation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36691" y="1285726"/>
            <a:ext cx="2847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TECHNICAL (3)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3533" y="1469827"/>
            <a:ext cx="0" cy="2857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182440" y="150792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mcp-builder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82440" y="162222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Build MCP servers for APIs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23533" y="1793677"/>
            <a:ext cx="0" cy="2857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182440" y="183177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slack-block-kit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82440" y="194607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Slack message builder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23533" y="2117527"/>
            <a:ext cx="0" cy="28575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182440" y="2155627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youtube-transcript-extract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82440" y="2269927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Video transcript extraction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36691" y="2504777"/>
            <a:ext cx="2847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META (1)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3533" y="2688878"/>
            <a:ext cx="0" cy="28575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182440" y="2726978"/>
            <a:ext cx="258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skill-creator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82440" y="2841278"/>
            <a:ext cx="2589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Guide for creating new skills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Four protection layers throughout the lifecycle</a:t>
            </a:r>
            <a:endParaRPr lang="en-US" sz="2800" dirty="0"/>
          </a:p>
        </p:txBody>
      </p:sp>
      <p:pic>
        <p:nvPicPr>
          <p:cNvPr id="4" name="Image 0" descr="/Users/builder/dev/project-starter/docs/system/diagrams/guardrails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950" y="923776"/>
            <a:ext cx="5841950" cy="20827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814" y="3107978"/>
            <a:ext cx="4333822" cy="409277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4813" y="3107978"/>
            <a:ext cx="0" cy="409277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8014" y="3171379"/>
            <a:ext cx="4097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Runtime hooks (5 hooks, 30 patterns)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8014" y="3339554"/>
            <a:ext cx="40975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Block destructive commands before execution. Log every tool call to SQLite.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32212" y="3107978"/>
            <a:ext cx="4333978" cy="409277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59213" y="3107978"/>
            <a:ext cx="0" cy="409277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12412" y="3171379"/>
            <a:ext cx="40977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QA gate (15 SAST rules, OWASP)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12412" y="3339554"/>
            <a:ext cx="4097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Clean-context reviewer after every /build. APPROVED verdict gates /commit.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7814" y="3593455"/>
            <a:ext cx="4333822" cy="523577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4813" y="3593455"/>
            <a:ext cx="0" cy="5235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014" y="3656856"/>
            <a:ext cx="4097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CI pipeline (under 15 seconds)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8014" y="3825032"/>
            <a:ext cx="4097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YAML syntax, markdown lint, structure checks on every push. /commit waits for green.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32212" y="3593455"/>
            <a:ext cx="4333978" cy="523577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59213" y="3593455"/>
            <a:ext cx="0" cy="523577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712412" y="3656856"/>
            <a:ext cx="40977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12412" y="3825032"/>
            <a:ext cx="40977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SQLite audit trail. /logs to query. /debug for systematic root cause investigation.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71450" y="4193232"/>
            <a:ext cx="8801100" cy="266700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73757" y="4269432"/>
            <a:ext cx="85964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Built-in observability: session logging to SQLite, agent tracing via /logs, CI/CD hooks — see docs for details.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THE COMPOUNDING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The longer you use it, the better the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4113" y="949226"/>
            <a:ext cx="2809257" cy="3559373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49226"/>
            <a:ext cx="0" cy="3559373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379" y="1101626"/>
            <a:ext cx="2433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Feature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379" y="1374577"/>
            <a:ext cx="2433801" cy="1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Every /explore, /blueprint, /build, and /commit writes to </a:t>
            </a:r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docs/features/FEAT-XXX/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. The PRD, plan, handover, and QA report persist across sessions. Feature 12 benefits from everything written in features 1–11.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67294" y="949226"/>
            <a:ext cx="2809413" cy="3559373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57996" y="949226"/>
            <a:ext cx="0" cy="3559373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01559" y="1101626"/>
            <a:ext cx="2433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59" y="1374577"/>
            <a:ext cx="2433960" cy="1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After each feature, /retro extracts patterns into </a:t>
            </a:r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.claude/skills/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. A debugging approach from FEAT-003. A validation pattern from FEAT-007. Each skill is auto-imported when relevant commands run.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20630" y="949226"/>
            <a:ext cx="2809257" cy="3559373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1329" y="949226"/>
            <a:ext cx="0" cy="3559373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54896" y="1101626"/>
            <a:ext cx="2433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Session Continuity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896" y="1374577"/>
            <a:ext cx="2433801" cy="114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/handover captures state in under 1,500 tokens — what was done, decisions made, what's next. /prime loads it at session start. Each merge prunes stale context. Handovers get sharper over time, not longer.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Up and running in 15 minutes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71450" y="923776"/>
            <a:ext cx="8801100" cy="5140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23776"/>
            <a:ext cx="0" cy="5140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76271" y="974527"/>
            <a:ext cx="8599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Step 1 — Clone the template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6271" y="1133177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git clone https://github.com/jackrich78/project-starter.git my-project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76271" y="1272778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Or use "Use this template" on GitHub to create a copy under your account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450" y="1488579"/>
            <a:ext cx="8801100" cy="5140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488579"/>
            <a:ext cx="0" cy="5140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6271" y="1539329"/>
            <a:ext cx="8599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Step 2 — Install and test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6271" y="1697980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npm install &amp;&amp; npm 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6271" y="1837581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All 10 scaffold tests should pass before you continue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1450" y="2053382"/>
            <a:ext cx="8801100" cy="5140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4813" y="2053382"/>
            <a:ext cx="0" cy="5140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6271" y="2104132"/>
            <a:ext cx="8599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Step 3 — Open in Claude Code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6271" y="2262783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claude 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6271" y="2402384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Claude Code reads CLAUDE.md automatically and loads project context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1450" y="2618184"/>
            <a:ext cx="8801100" cy="5140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4813" y="2618184"/>
            <a:ext cx="0" cy="514052"/>
          </a:xfrm>
          <a:prstGeom prst="line">
            <a:avLst/>
          </a:prstGeom>
          <a:noFill/>
          <a:ln w="47625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76271" y="2668935"/>
            <a:ext cx="8599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3946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Step 4 — Run /setup to configure your project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6271" y="2827586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/setup docs/research/my-project-notes.md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6271" y="2967186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Configures PROJECT.md, CLAUDE.md, and generates initial docs from your source material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1450" y="3182987"/>
            <a:ext cx="8801100" cy="514052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04813" y="3182987"/>
            <a:ext cx="0" cy="514052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76271" y="3233738"/>
            <a:ext cx="8599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Step 5 — Start your first feature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271" y="3392388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1A2E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/explore your first feature idea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6271" y="3531989"/>
            <a:ext cx="8599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Explore interviews you and creates the first PRD — the pipeline begins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1450" y="3773239"/>
            <a:ext cx="8801100" cy="295275"/>
          </a:xfrm>
          <a:prstGeom prst="roundRect">
            <a:avLst>
              <a:gd name="adj" fmla="val 1720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4023" y="3849439"/>
            <a:ext cx="8596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npm test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first — all 10 scaffold tests should pass before you start.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177701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WORKING WITH CLAUDE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336352"/>
            <a:ext cx="897712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Steer Claude in the moment — five intent modes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2845" y="761702"/>
            <a:ext cx="2862545" cy="189413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2845" y="780752"/>
            <a:ext cx="2862545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8159" y="863203"/>
            <a:ext cx="27023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Slow down and reason deeply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8159" y="1443930"/>
            <a:ext cx="2702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Before complex decisions, architecture, or debugging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140575" y="761702"/>
            <a:ext cx="2862701" cy="189413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140575" y="780752"/>
            <a:ext cx="2862701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45889" y="863203"/>
            <a:ext cx="27025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Stop — don't fill gaps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45889" y="1443930"/>
            <a:ext cx="27025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When Claude seems confident without reading the file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968459" y="761702"/>
            <a:ext cx="2862701" cy="189413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68459" y="780752"/>
            <a:ext cx="2862701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73772" y="863203"/>
            <a:ext cx="27025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Verify before moving 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73772" y="1443930"/>
            <a:ext cx="27025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After implementation, to catch self-introduced errors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7494" y="2719239"/>
            <a:ext cx="4347262" cy="189413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77494" y="2738289"/>
            <a:ext cx="4347262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2102" y="2820739"/>
            <a:ext cx="4216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Challenge the approach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2102" y="3201591"/>
            <a:ext cx="42167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Stress-testing a plan before committing to a direction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19244" y="2719239"/>
            <a:ext cx="4347262" cy="1894136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19244" y="2738289"/>
            <a:ext cx="4347262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23852" y="2820739"/>
            <a:ext cx="4216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Control scope and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23852" y="3201591"/>
            <a:ext cx="42167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i="1" dirty="0">
                <a:solidFill>
                  <a:srgbClr val="374151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Preventing scope creep, verbosity, or silent reference changes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71450" y="4676775"/>
            <a:ext cx="8801100" cy="390525"/>
          </a:xfrm>
          <a:prstGeom prst="roundRect">
            <a:avLst>
              <a:gd name="adj" fmla="val 1300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4023" y="4752975"/>
            <a:ext cx="8596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All phrases are situational — you combine them. </a:t>
            </a:r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"Think ultra hard, do not assume, validate your work"</a:t>
            </a:r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 before a risky refactor. See Claude Code best practices: code.claude.com/docs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59" y="228600"/>
            <a:ext cx="897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67259" y="412700"/>
            <a:ext cx="897712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ebas Neue" pitchFamily="34" charset="0"/>
                <a:ea typeface="Arial" pitchFamily="34" charset="-122"/>
                <a:cs typeface="Arial" pitchFamily="34" charset="-120"/>
              </a:rPr>
              <a:t>Documentation and community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80035" y="949226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49226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7028" y="1025426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7028" y="1203127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docs/guides/getting-started.md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0035" y="1495127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495127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7028" y="1571327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028" y="1749028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docs/system/architecture.md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0035" y="2041029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041029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7028" y="2117229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Commands Reference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028" y="2294930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docs/system/commands-reference.md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3435" y="949226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8213" y="949226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30428" y="1025426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Skills 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0428" y="1203127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docs/system/skills-reference.md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3435" y="1495127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8213" y="1495127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30428" y="1571327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0428" y="1749028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docs/system/observability.md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3435" y="2041029"/>
            <a:ext cx="4240530" cy="444401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48213" y="2041029"/>
            <a:ext cx="0" cy="4444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30428" y="2117229"/>
            <a:ext cx="3947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CI/CD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0428" y="2294930"/>
            <a:ext cx="39478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JetBrains Mono" pitchFamily="34" charset="0"/>
                <a:ea typeface="Courier New" pitchFamily="34" charset="-122"/>
                <a:cs typeface="Courier New" pitchFamily="34" charset="-120"/>
              </a:rPr>
              <a:t>docs/system/cicd-workflow.md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1450" y="2663130"/>
            <a:ext cx="8801100" cy="720477"/>
          </a:xfrm>
          <a:prstGeom prst="roundRect">
            <a:avLst>
              <a:gd name="adj" fmla="val 705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9880" y="2840831"/>
            <a:ext cx="8324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github.com/jackrich78/project-starter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9880" y="3063032"/>
            <a:ext cx="8324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Arial" pitchFamily="34" charset="-122"/>
                <a:cs typeface="Arial" pitchFamily="34" charset="-120"/>
              </a:rPr>
              <a:t>MIT License · Issues welcome · PRs encouraged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Starter — Explainer Deck</dc:title>
  <dc:subject>PptxGenJS Presentation</dc:subject>
  <dc:creator>Project Starter</dc:creator>
  <cp:lastModifiedBy>Project Starter</cp:lastModifiedBy>
  <cp:revision>1</cp:revision>
  <dcterms:created xsi:type="dcterms:W3CDTF">2026-03-18T11:48:21Z</dcterms:created>
  <dcterms:modified xsi:type="dcterms:W3CDTF">2026-03-18T11:48:21Z</dcterms:modified>
</cp:coreProperties>
</file>